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7FFB34B-923E-4D58-BD11-BB823897FF08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C75B64-96C8-48CC-BCF1-DC1706856F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3C0D90-5630-4C7D-A467-3706199038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712625-B274-44AF-A430-88BD9366B2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A6FE98-6CC1-4807-8AE7-91711ADB12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6CA676-8E3B-435E-9B6E-F50953DCF20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4BAFA0-4ABF-47B1-9B58-A07508FCF98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7E4132-4425-47D9-882B-EF54A35FA8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54990C-B523-4088-A4CB-3CD600657F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871A8A-8236-4205-8ED9-4698EC08264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3D4701-8B67-4DA6-BD8E-8C25F0A114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C135B2-DFDA-4D49-8726-38AAE2D909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DC42E6-658D-4DE9-89D4-71AA1AE668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A63284-AE58-43D4-AA36-03E7023874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0A341D-5772-4ED4-AE50-81273184E1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F955C3-9A68-4F2B-8959-60F22B52E0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9D2E2A-B48D-4C12-BECD-9327111731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100000" y="2711160"/>
            <a:ext cx="5028840" cy="5028840"/>
          </a:xfrm>
          <a:prstGeom prst="ellipse">
            <a:avLst/>
          </a:prstGeom>
          <a:solidFill>
            <a:srgbClr val="FF8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1" name="Text 2"/>
          <p:cNvSpPr/>
          <p:nvPr/>
        </p:nvSpPr>
        <p:spPr>
          <a:xfrm>
            <a:off x="640080" y="1143000"/>
            <a:ext cx="86864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4601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Aptos Black"/>
                <a:ea typeface="Cambria"/>
              </a:rPr>
              <a:t>BANKING DATABASE</a:t>
            </a:r>
            <a:endParaRPr lang="en-GB" sz="6000" b="0" u="none" strike="noStrike">
              <a:solidFill>
                <a:srgbClr val="FFFFFF"/>
              </a:solidFill>
              <a:effectLst/>
              <a:uFillTx/>
              <a:latin typeface="Aptos Black"/>
            </a:endParaRPr>
          </a:p>
          <a:p>
            <a:pPr defTabSz="914400">
              <a:lnSpc>
                <a:spcPts val="4601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Aptos Black"/>
                <a:ea typeface="Cambria"/>
              </a:rPr>
              <a:t>MANAGEMENT SYSTEM</a:t>
            </a:r>
            <a:endParaRPr lang="en-GB" sz="6000" b="0" u="none" strike="noStrike">
              <a:solidFill>
                <a:srgbClr val="FFFFFF"/>
              </a:solidFill>
              <a:effectLst/>
              <a:uFillTx/>
              <a:latin typeface="Aptos Black"/>
            </a:endParaRPr>
          </a:p>
        </p:txBody>
      </p:sp>
      <p:sp>
        <p:nvSpPr>
          <p:cNvPr id="12" name="Text 3"/>
          <p:cNvSpPr/>
          <p:nvPr/>
        </p:nvSpPr>
        <p:spPr>
          <a:xfrm>
            <a:off x="685800" y="24404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i="1" u="none" strike="noStrike">
                <a:solidFill>
                  <a:srgbClr val="FF8000"/>
                </a:solidFill>
                <a:effectLst/>
                <a:uFillTx/>
                <a:latin typeface="Aptos"/>
                <a:ea typeface="Calibri"/>
              </a:rPr>
              <a:t>Designed and Implemented using MySQL</a:t>
            </a:r>
            <a:endParaRPr lang="en-GB" sz="1800" b="1" u="none" strike="noStrike">
              <a:solidFill>
                <a:srgbClr val="FF8000"/>
              </a:solidFill>
              <a:effectLst/>
              <a:uFillTx/>
              <a:latin typeface="Aptos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85800" y="5074920"/>
            <a:ext cx="2374200" cy="10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 Mono"/>
                <a:ea typeface="Calibri"/>
              </a:rPr>
              <a:t>GROUP 1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ptos Mono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9360000" y="4140000"/>
            <a:ext cx="2340000" cy="23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"/>
          <p:cNvPicPr/>
          <p:nvPr/>
        </p:nvPicPr>
        <p:blipFill>
          <a:blip r:embed="rId2"/>
          <a:stretch/>
        </p:blipFill>
        <p:spPr>
          <a:xfrm>
            <a:off x="9749520" y="0"/>
            <a:ext cx="1950480" cy="195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48640" y="41148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Aptos Black"/>
                <a:ea typeface="Cambria"/>
              </a:rPr>
              <a:t>Introduction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ptos Black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48640" y="1371600"/>
            <a:ext cx="69490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ptos"/>
                <a:ea typeface="Calibri"/>
              </a:rPr>
              <a:t>What is a DBMS?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Calibri"/>
              </a:rPr>
              <a:t>A computerized system that manages, stores, and retrieves data efficiently in a structured format, acting as a bridge between a central database and applications or users.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8" name="Text 2"/>
          <p:cNvSpPr/>
          <p:nvPr/>
        </p:nvSpPr>
        <p:spPr>
          <a:xfrm>
            <a:off x="548640" y="2651760"/>
            <a:ext cx="69490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ptos"/>
                <a:ea typeface="Calibri"/>
              </a:rPr>
              <a:t>Why banks need it 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ptos"/>
                <a:ea typeface="Calibri"/>
              </a:rPr>
              <a:t>Legacy file systems suffered redundancy, inconsistency, poor security, and weak backup/recovery. Modern DBMS solves this — supporting transaction processing, customer relationship management, and fraud detection.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7740000" y="1371600"/>
            <a:ext cx="3872520" cy="4297320"/>
          </a:xfrm>
          <a:prstGeom prst="roundRect">
            <a:avLst>
              <a:gd name="adj" fmla="val 243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7920000" y="1620000"/>
            <a:ext cx="3600000" cy="37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GB" sz="2800" b="0" u="none" strike="noStrike">
                <a:solidFill>
                  <a:srgbClr val="FF8000"/>
                </a:solidFill>
                <a:effectLst/>
                <a:uFillTx/>
                <a:latin typeface="Aptos ExtraBold"/>
              </a:rPr>
              <a:t>Without a DBMS: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2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Data redundancy 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2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Slow retrieval 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2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Inconsistent records 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2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Poor security 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 2" charset="2"/>
              <a:buChar char=""/>
            </a:pPr>
            <a:r>
              <a:rPr lang="en-GB" sz="28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Difficult reporting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40000" y="5940000"/>
            <a:ext cx="11160000" cy="1010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lang="en-GB" sz="2200" b="1" u="none" strike="noStrike">
                <a:solidFill>
                  <a:srgbClr val="000000"/>
                </a:solidFill>
                <a:effectLst/>
                <a:uFillTx/>
                <a:latin typeface="Aptos ExtraBold"/>
              </a:rPr>
              <a:t>Our Objective:</a:t>
            </a:r>
            <a:endParaRPr lang="en-GB" sz="2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Design a relational database that stores banking information accurately while maintaining data integrity.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</a:pP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40"/>
          <p:cNvSpPr/>
          <p:nvPr/>
        </p:nvSpPr>
        <p:spPr>
          <a:xfrm>
            <a:off x="548640" y="41148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Aptos Black"/>
                <a:ea typeface="Cambria"/>
              </a:rPr>
              <a:t>Project Scope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ptos Black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940000" y="1440000"/>
            <a:ext cx="5400000" cy="5040000"/>
          </a:xfrm>
          <a:prstGeom prst="rect">
            <a:avLst/>
          </a:prstGeom>
          <a:noFill/>
          <a:ln w="0">
            <a:solidFill>
              <a:srgbClr val="FF8000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Aptos ExtraBold"/>
              </a:rPr>
              <a:t>Features</a:t>
            </a:r>
            <a:endParaRPr lang="en-GB" sz="2400" b="1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Customer registration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Account management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Transaction history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Loan management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Card management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Branch &amp; employee records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720000" y="1440000"/>
            <a:ext cx="5040000" cy="5040000"/>
          </a:xfrm>
          <a:prstGeom prst="rect">
            <a:avLst/>
          </a:prstGeom>
          <a:noFill/>
          <a:ln w="0">
            <a:solidFill>
              <a:srgbClr val="FF8000"/>
            </a:solidFill>
          </a:ln>
        </p:spPr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GB" sz="2400" b="1" u="none" strike="noStrike">
                <a:solidFill>
                  <a:srgbClr val="000000"/>
                </a:solidFill>
                <a:effectLst/>
                <a:uFillTx/>
                <a:latin typeface="Aptos ExtraBold"/>
              </a:rPr>
              <a:t>The Banking System</a:t>
            </a:r>
            <a:endParaRPr lang="en-GB" sz="2400" b="1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lang="en-GB" sz="2400" b="1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The system manages: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Customers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Accounts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Branches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Employees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Transactions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Loans 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marL="216000" indent="-2160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SzPct val="45000"/>
              <a:buFont typeface="OpenSymbol"/>
              <a:buChar char="►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ptos"/>
              </a:rPr>
              <a:t>Cards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548640" y="41148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Aptos Black"/>
                <a:ea typeface="Cambria"/>
              </a:rPr>
              <a:t>Methodology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ptos Black"/>
            </a:endParaRPr>
          </a:p>
        </p:txBody>
      </p:sp>
      <p:sp>
        <p:nvSpPr>
          <p:cNvPr id="26" name="Text 1"/>
          <p:cNvSpPr/>
          <p:nvPr/>
        </p:nvSpPr>
        <p:spPr>
          <a:xfrm>
            <a:off x="548640" y="11430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i="1" u="none" strike="noStrike">
                <a:solidFill>
                  <a:srgbClr val="5A6B8C"/>
                </a:solidFill>
                <a:effectLst/>
                <a:uFillTx/>
                <a:latin typeface="Aptos"/>
                <a:ea typeface="Calibri"/>
              </a:rPr>
              <a:t>Relational Database Design Methodology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676800" y="2103120"/>
            <a:ext cx="1691280" cy="137124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8" name="Text 3"/>
          <p:cNvSpPr/>
          <p:nvPr/>
        </p:nvSpPr>
        <p:spPr>
          <a:xfrm>
            <a:off x="768240" y="21762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D4AF37"/>
                </a:solidFill>
                <a:effectLst/>
                <a:uFillTx/>
                <a:latin typeface="Aptos"/>
                <a:ea typeface="Cambria"/>
              </a:rPr>
              <a:t>1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9" name="Text 4"/>
          <p:cNvSpPr/>
          <p:nvPr/>
        </p:nvSpPr>
        <p:spPr>
          <a:xfrm>
            <a:off x="768240" y="2606040"/>
            <a:ext cx="1508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Requirement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Analysis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0" name="Text 5"/>
          <p:cNvSpPr/>
          <p:nvPr/>
        </p:nvSpPr>
        <p:spPr>
          <a:xfrm>
            <a:off x="2368440" y="25146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5A6B8C"/>
                </a:solidFill>
                <a:effectLst/>
                <a:uFillTx/>
                <a:latin typeface="Aptos"/>
              </a:rPr>
              <a:t>→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2505600" y="2103120"/>
            <a:ext cx="1691280" cy="137124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2" name="Text 7"/>
          <p:cNvSpPr/>
          <p:nvPr/>
        </p:nvSpPr>
        <p:spPr>
          <a:xfrm>
            <a:off x="2597040" y="21762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2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3" name="Text 8"/>
          <p:cNvSpPr/>
          <p:nvPr/>
        </p:nvSpPr>
        <p:spPr>
          <a:xfrm>
            <a:off x="2597040" y="2606040"/>
            <a:ext cx="1508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Entity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Identification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4" name="Text 9"/>
          <p:cNvSpPr/>
          <p:nvPr/>
        </p:nvSpPr>
        <p:spPr>
          <a:xfrm>
            <a:off x="4197240" y="25146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5A6B8C"/>
                </a:solidFill>
                <a:effectLst/>
                <a:uFillTx/>
                <a:latin typeface="Aptos"/>
              </a:rPr>
              <a:t>→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4334400" y="2103120"/>
            <a:ext cx="1691280" cy="137124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4425840" y="21762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D4AF37"/>
                </a:solidFill>
                <a:effectLst/>
                <a:uFillTx/>
                <a:latin typeface="Aptos"/>
                <a:ea typeface="Cambria"/>
              </a:rPr>
              <a:t>3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4425840" y="2606040"/>
            <a:ext cx="1508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Attribute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Definition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6026040" y="25146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5A6B8C"/>
                </a:solidFill>
                <a:effectLst/>
                <a:uFillTx/>
                <a:latin typeface="Aptos"/>
              </a:rPr>
              <a:t>→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6163200" y="2103120"/>
            <a:ext cx="1691280" cy="137124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6254640" y="21762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4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6254640" y="2606040"/>
            <a:ext cx="1508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Relationship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Design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7854840" y="25146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5A6B8C"/>
                </a:solidFill>
                <a:effectLst/>
                <a:uFillTx/>
                <a:latin typeface="Aptos"/>
              </a:rPr>
              <a:t>→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7992000" y="2103120"/>
            <a:ext cx="1691280" cy="137124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8083440" y="21762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D4AF37"/>
                </a:solidFill>
                <a:effectLst/>
                <a:uFillTx/>
                <a:latin typeface="Aptos"/>
                <a:ea typeface="Cambria"/>
              </a:rPr>
              <a:t>5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8083440" y="2606040"/>
            <a:ext cx="1508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Normalization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9683640" y="2514600"/>
            <a:ext cx="182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5A6B8C"/>
                </a:solidFill>
                <a:effectLst/>
                <a:uFillTx/>
                <a:latin typeface="Aptos"/>
              </a:rPr>
              <a:t>→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9820800" y="2103120"/>
            <a:ext cx="1691280" cy="137124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9912240" y="2176200"/>
            <a:ext cx="54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6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9912240" y="2606040"/>
            <a:ext cx="1508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Implementation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&amp; Testing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548640" y="393192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This process reduces redundancy, minimizes errors, and maintains data integrity across all banking records.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51" name="Shape 26"/>
          <p:cNvSpPr/>
          <p:nvPr/>
        </p:nvSpPr>
        <p:spPr>
          <a:xfrm>
            <a:off x="548640" y="4572000"/>
            <a:ext cx="11063880" cy="1416960"/>
          </a:xfrm>
          <a:prstGeom prst="roundRect">
            <a:avLst>
              <a:gd name="adj" fmla="val 5161"/>
            </a:avLst>
          </a:prstGeom>
          <a:solidFill>
            <a:srgbClr val="F2F4FA"/>
          </a:solidFill>
          <a:ln w="127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822960" y="47091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libri"/>
              </a:rPr>
              <a:t>Entities Recognised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53" name="Shape 28"/>
          <p:cNvSpPr/>
          <p:nvPr/>
        </p:nvSpPr>
        <p:spPr>
          <a:xfrm>
            <a:off x="714960" y="5120640"/>
            <a:ext cx="1416960" cy="50256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54" name="Text 29"/>
          <p:cNvSpPr/>
          <p:nvPr/>
        </p:nvSpPr>
        <p:spPr>
          <a:xfrm>
            <a:off x="714960" y="512064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Customer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55" name="Shape 30"/>
          <p:cNvSpPr/>
          <p:nvPr/>
        </p:nvSpPr>
        <p:spPr>
          <a:xfrm>
            <a:off x="2269440" y="5120640"/>
            <a:ext cx="1416960" cy="50256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2269440" y="512064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Branch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57" name="Shape 32"/>
          <p:cNvSpPr/>
          <p:nvPr/>
        </p:nvSpPr>
        <p:spPr>
          <a:xfrm>
            <a:off x="3823920" y="5120640"/>
            <a:ext cx="1416960" cy="50256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58" name="Text 33"/>
          <p:cNvSpPr/>
          <p:nvPr/>
        </p:nvSpPr>
        <p:spPr>
          <a:xfrm>
            <a:off x="3823920" y="512064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Account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59" name="Shape 34"/>
          <p:cNvSpPr/>
          <p:nvPr/>
        </p:nvSpPr>
        <p:spPr>
          <a:xfrm>
            <a:off x="5378400" y="5120640"/>
            <a:ext cx="1416960" cy="50256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0" name="Text 35"/>
          <p:cNvSpPr/>
          <p:nvPr/>
        </p:nvSpPr>
        <p:spPr>
          <a:xfrm>
            <a:off x="5378400" y="512064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Transaction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61" name="Shape 36"/>
          <p:cNvSpPr/>
          <p:nvPr/>
        </p:nvSpPr>
        <p:spPr>
          <a:xfrm>
            <a:off x="6932880" y="5120640"/>
            <a:ext cx="1416960" cy="50256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2" name="Text 37"/>
          <p:cNvSpPr/>
          <p:nvPr/>
        </p:nvSpPr>
        <p:spPr>
          <a:xfrm>
            <a:off x="6932880" y="512064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Employee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63" name="Shape 38"/>
          <p:cNvSpPr/>
          <p:nvPr/>
        </p:nvSpPr>
        <p:spPr>
          <a:xfrm>
            <a:off x="8487360" y="5120640"/>
            <a:ext cx="1416960" cy="50256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4" name="Text 39"/>
          <p:cNvSpPr/>
          <p:nvPr/>
        </p:nvSpPr>
        <p:spPr>
          <a:xfrm>
            <a:off x="8487360" y="512064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Loan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65" name="Shape 40"/>
          <p:cNvSpPr/>
          <p:nvPr/>
        </p:nvSpPr>
        <p:spPr>
          <a:xfrm>
            <a:off x="10041840" y="5120640"/>
            <a:ext cx="1416960" cy="50256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66" name="Text 41"/>
          <p:cNvSpPr/>
          <p:nvPr/>
        </p:nvSpPr>
        <p:spPr>
          <a:xfrm>
            <a:off x="10041840" y="5120640"/>
            <a:ext cx="1416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Card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48640" y="41148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Aptos Black"/>
                <a:ea typeface="Cambria"/>
              </a:rPr>
              <a:t>Conceptual Design — ER Diagram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ptos Black"/>
            </a:endParaRPr>
          </a:p>
        </p:txBody>
      </p:sp>
      <p:sp>
        <p:nvSpPr>
          <p:cNvPr id="68" name="Text 1"/>
          <p:cNvSpPr/>
          <p:nvPr/>
        </p:nvSpPr>
        <p:spPr>
          <a:xfrm>
            <a:off x="548640" y="10972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5A6B8C"/>
                </a:solidFill>
                <a:effectLst/>
                <a:uFillTx/>
                <a:latin typeface="Aptos"/>
                <a:ea typeface="Calibri"/>
              </a:rPr>
              <a:t>Crow's Foot Notation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pic>
        <p:nvPicPr>
          <p:cNvPr id="69" name="Image 0" descr="page4_xref29.png"/>
          <p:cNvPicPr/>
          <p:nvPr/>
        </p:nvPicPr>
        <p:blipFill>
          <a:blip r:embed="rId1"/>
          <a:stretch/>
        </p:blipFill>
        <p:spPr>
          <a:xfrm>
            <a:off x="2743200" y="1292760"/>
            <a:ext cx="6400440" cy="5442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48640" y="41148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Aptos Black"/>
                <a:ea typeface="Cambria"/>
              </a:rPr>
              <a:t>Conceptual Design — ER Diagram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ptos Black"/>
            </a:endParaRPr>
          </a:p>
        </p:txBody>
      </p:sp>
      <p:sp>
        <p:nvSpPr>
          <p:cNvPr id="71" name="Text 1"/>
          <p:cNvSpPr/>
          <p:nvPr/>
        </p:nvSpPr>
        <p:spPr>
          <a:xfrm>
            <a:off x="548640" y="10972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5A6B8C"/>
                </a:solidFill>
                <a:effectLst/>
                <a:uFillTx/>
                <a:latin typeface="Aptos"/>
                <a:ea typeface="Calibri"/>
              </a:rPr>
              <a:t>Chen's Notation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pic>
        <p:nvPicPr>
          <p:cNvPr id="72" name="Image 0" descr="page5_xref33.png"/>
          <p:cNvPicPr/>
          <p:nvPr/>
        </p:nvPicPr>
        <p:blipFill>
          <a:blip r:embed="rId1"/>
          <a:stretch/>
        </p:blipFill>
        <p:spPr>
          <a:xfrm>
            <a:off x="822960" y="1508760"/>
            <a:ext cx="10515240" cy="453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8640" y="41148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Aptos Black"/>
                <a:ea typeface="Cambria"/>
              </a:rPr>
              <a:t>Database Tables — 7 Entities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ptos Black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425160" y="1371600"/>
            <a:ext cx="2697120" cy="169128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75" name="Shape 2"/>
          <p:cNvSpPr/>
          <p:nvPr/>
        </p:nvSpPr>
        <p:spPr>
          <a:xfrm>
            <a:off x="608040" y="1554480"/>
            <a:ext cx="456840" cy="456840"/>
          </a:xfrm>
          <a:prstGeom prst="ellipse">
            <a:avLst/>
          </a:prstGeom>
          <a:solidFill>
            <a:srgbClr val="FF8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76" name="Text 3"/>
          <p:cNvSpPr/>
          <p:nvPr/>
        </p:nvSpPr>
        <p:spPr>
          <a:xfrm>
            <a:off x="608040" y="1554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1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77" name="Text 4"/>
          <p:cNvSpPr/>
          <p:nvPr/>
        </p:nvSpPr>
        <p:spPr>
          <a:xfrm>
            <a:off x="608040" y="21031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Customer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78" name="Text 5"/>
          <p:cNvSpPr/>
          <p:nvPr/>
        </p:nvSpPr>
        <p:spPr>
          <a:xfrm>
            <a:off x="608040" y="24231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Aptos"/>
                <a:ea typeface="Calibri"/>
              </a:rPr>
              <a:t>Individuals who interact with the bank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3305520" y="1371600"/>
            <a:ext cx="2697120" cy="169128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3488400" y="1554480"/>
            <a:ext cx="456840" cy="456840"/>
          </a:xfrm>
          <a:prstGeom prst="ellipse">
            <a:avLst/>
          </a:prstGeom>
          <a:solidFill>
            <a:srgbClr val="FF8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81" name="Text 8"/>
          <p:cNvSpPr/>
          <p:nvPr/>
        </p:nvSpPr>
        <p:spPr>
          <a:xfrm>
            <a:off x="3488400" y="1554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2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82" name="Text 9"/>
          <p:cNvSpPr/>
          <p:nvPr/>
        </p:nvSpPr>
        <p:spPr>
          <a:xfrm>
            <a:off x="3488400" y="21031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Branch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3488400" y="24231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Aptos"/>
                <a:ea typeface="Calibri"/>
              </a:rPr>
              <a:t>Different branches/offices of the bank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84" name="Shape 11"/>
          <p:cNvSpPr/>
          <p:nvPr/>
        </p:nvSpPr>
        <p:spPr>
          <a:xfrm>
            <a:off x="6185880" y="1371600"/>
            <a:ext cx="2697120" cy="169128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85" name="Shape 12"/>
          <p:cNvSpPr/>
          <p:nvPr/>
        </p:nvSpPr>
        <p:spPr>
          <a:xfrm>
            <a:off x="6368760" y="1554480"/>
            <a:ext cx="456840" cy="456840"/>
          </a:xfrm>
          <a:prstGeom prst="ellipse">
            <a:avLst/>
          </a:prstGeom>
          <a:solidFill>
            <a:srgbClr val="FF8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6368760" y="1554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3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6368760" y="21031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Account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6368760" y="24231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Aptos"/>
                <a:ea typeface="Calibri"/>
              </a:rPr>
              <a:t>Accounts held by customers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89" name="Shape 16"/>
          <p:cNvSpPr/>
          <p:nvPr/>
        </p:nvSpPr>
        <p:spPr>
          <a:xfrm>
            <a:off x="9066240" y="1371600"/>
            <a:ext cx="2697120" cy="169128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90" name="Shape 17"/>
          <p:cNvSpPr/>
          <p:nvPr/>
        </p:nvSpPr>
        <p:spPr>
          <a:xfrm>
            <a:off x="9249120" y="1554480"/>
            <a:ext cx="456840" cy="456840"/>
          </a:xfrm>
          <a:prstGeom prst="ellipse">
            <a:avLst/>
          </a:prstGeom>
          <a:solidFill>
            <a:srgbClr val="FF8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9249120" y="1554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4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9249120" y="210312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Transaction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9249120" y="242316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Aptos"/>
                <a:ea typeface="Calibri"/>
              </a:rPr>
              <a:t>Deposits &amp; withdrawals on an account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94" name="Shape 21"/>
          <p:cNvSpPr/>
          <p:nvPr/>
        </p:nvSpPr>
        <p:spPr>
          <a:xfrm>
            <a:off x="425160" y="3291840"/>
            <a:ext cx="2697120" cy="1691280"/>
          </a:xfrm>
          <a:prstGeom prst="roundRect">
            <a:avLst>
              <a:gd name="adj" fmla="val 4324"/>
            </a:avLst>
          </a:prstGeom>
          <a:solidFill>
            <a:srgbClr val="F2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95" name="Shape 22"/>
          <p:cNvSpPr/>
          <p:nvPr/>
        </p:nvSpPr>
        <p:spPr>
          <a:xfrm>
            <a:off x="608040" y="34747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96" name="Text 23"/>
          <p:cNvSpPr/>
          <p:nvPr/>
        </p:nvSpPr>
        <p:spPr>
          <a:xfrm>
            <a:off x="608040" y="3474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mbria"/>
              </a:rPr>
              <a:t>5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97" name="Text 24"/>
          <p:cNvSpPr/>
          <p:nvPr/>
        </p:nvSpPr>
        <p:spPr>
          <a:xfrm>
            <a:off x="608040" y="40233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libri"/>
              </a:rPr>
              <a:t>Employee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98" name="Text 25"/>
          <p:cNvSpPr/>
          <p:nvPr/>
        </p:nvSpPr>
        <p:spPr>
          <a:xfrm>
            <a:off x="608040" y="43434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A6B8C"/>
                </a:solidFill>
                <a:effectLst/>
                <a:uFillTx/>
                <a:latin typeface="Aptos"/>
                <a:ea typeface="Calibri"/>
              </a:rPr>
              <a:t>Staff working at a branch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99" name="Shape 26"/>
          <p:cNvSpPr/>
          <p:nvPr/>
        </p:nvSpPr>
        <p:spPr>
          <a:xfrm>
            <a:off x="3305520" y="3291840"/>
            <a:ext cx="2697120" cy="1691280"/>
          </a:xfrm>
          <a:prstGeom prst="roundRect">
            <a:avLst>
              <a:gd name="adj" fmla="val 4324"/>
            </a:avLst>
          </a:prstGeom>
          <a:solidFill>
            <a:srgbClr val="F2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00" name="Shape 27"/>
          <p:cNvSpPr/>
          <p:nvPr/>
        </p:nvSpPr>
        <p:spPr>
          <a:xfrm>
            <a:off x="3488400" y="34747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01" name="Text 28"/>
          <p:cNvSpPr/>
          <p:nvPr/>
        </p:nvSpPr>
        <p:spPr>
          <a:xfrm>
            <a:off x="3488400" y="3474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mbria"/>
              </a:rPr>
              <a:t>6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02" name="Text 29"/>
          <p:cNvSpPr/>
          <p:nvPr/>
        </p:nvSpPr>
        <p:spPr>
          <a:xfrm>
            <a:off x="3488400" y="40233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libri"/>
              </a:rPr>
              <a:t>Loan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03" name="Text 30"/>
          <p:cNvSpPr/>
          <p:nvPr/>
        </p:nvSpPr>
        <p:spPr>
          <a:xfrm>
            <a:off x="3488400" y="43434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A6B8C"/>
                </a:solidFill>
                <a:effectLst/>
                <a:uFillTx/>
                <a:latin typeface="Aptos"/>
                <a:ea typeface="Calibri"/>
              </a:rPr>
              <a:t>Loans granted to customers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04" name="Shape 31"/>
          <p:cNvSpPr/>
          <p:nvPr/>
        </p:nvSpPr>
        <p:spPr>
          <a:xfrm>
            <a:off x="6185880" y="3291840"/>
            <a:ext cx="2697120" cy="1691280"/>
          </a:xfrm>
          <a:prstGeom prst="roundRect">
            <a:avLst>
              <a:gd name="adj" fmla="val 4324"/>
            </a:avLst>
          </a:prstGeom>
          <a:solidFill>
            <a:srgbClr val="F2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05" name="Shape 32"/>
          <p:cNvSpPr/>
          <p:nvPr/>
        </p:nvSpPr>
        <p:spPr>
          <a:xfrm>
            <a:off x="6368760" y="3474720"/>
            <a:ext cx="456840" cy="4568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06" name="Text 33"/>
          <p:cNvSpPr/>
          <p:nvPr/>
        </p:nvSpPr>
        <p:spPr>
          <a:xfrm>
            <a:off x="6368760" y="3474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mbria"/>
              </a:rPr>
              <a:t>7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07" name="Text 34"/>
          <p:cNvSpPr/>
          <p:nvPr/>
        </p:nvSpPr>
        <p:spPr>
          <a:xfrm>
            <a:off x="6368760" y="4023360"/>
            <a:ext cx="2331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libri"/>
              </a:rPr>
              <a:t>Card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08" name="Text 35"/>
          <p:cNvSpPr/>
          <p:nvPr/>
        </p:nvSpPr>
        <p:spPr>
          <a:xfrm>
            <a:off x="6368760" y="43434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5A6B8C"/>
                </a:solidFill>
                <a:effectLst/>
                <a:uFillTx/>
                <a:latin typeface="Aptos"/>
                <a:ea typeface="Calibri"/>
              </a:rPr>
              <a:t>Debit/credit cards issued per account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548640" y="41148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Aptos Black"/>
                <a:ea typeface="Cambria"/>
              </a:rPr>
              <a:t>Relationships Among Tables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ptos Black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822960" y="1417320"/>
            <a:ext cx="10515240" cy="502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822960" y="14173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Parent Table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3566160" y="141732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Child Table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6309360" y="141732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Foreign Key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14" name="Text 5"/>
          <p:cNvSpPr/>
          <p:nvPr/>
        </p:nvSpPr>
        <p:spPr>
          <a:xfrm>
            <a:off x="9235440" y="1417320"/>
            <a:ext cx="2102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Cardinality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15" name="Shape 6"/>
          <p:cNvSpPr/>
          <p:nvPr/>
        </p:nvSpPr>
        <p:spPr>
          <a:xfrm>
            <a:off x="822960" y="1920240"/>
            <a:ext cx="10515240" cy="566640"/>
          </a:xfrm>
          <a:prstGeom prst="rect">
            <a:avLst/>
          </a:prstGeom>
          <a:solidFill>
            <a:srgbClr val="F2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16" name="Text 7"/>
          <p:cNvSpPr/>
          <p:nvPr/>
        </p:nvSpPr>
        <p:spPr>
          <a:xfrm>
            <a:off x="822960" y="192024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Customer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17" name="Text 8"/>
          <p:cNvSpPr/>
          <p:nvPr/>
        </p:nvSpPr>
        <p:spPr>
          <a:xfrm>
            <a:off x="3566160" y="192024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Account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18" name="Text 9"/>
          <p:cNvSpPr/>
          <p:nvPr/>
        </p:nvSpPr>
        <p:spPr>
          <a:xfrm>
            <a:off x="6309360" y="1920240"/>
            <a:ext cx="2925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customer_id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19" name="Text 10"/>
          <p:cNvSpPr/>
          <p:nvPr/>
        </p:nvSpPr>
        <p:spPr>
          <a:xfrm>
            <a:off x="9235440" y="192024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libri"/>
              </a:rPr>
              <a:t>1 : 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20" name="Text 11"/>
          <p:cNvSpPr/>
          <p:nvPr/>
        </p:nvSpPr>
        <p:spPr>
          <a:xfrm>
            <a:off x="822960" y="248724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Branch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3566160" y="248724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Account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22" name="Text 13"/>
          <p:cNvSpPr/>
          <p:nvPr/>
        </p:nvSpPr>
        <p:spPr>
          <a:xfrm>
            <a:off x="6309360" y="2487240"/>
            <a:ext cx="2925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branch_id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23" name="Text 14"/>
          <p:cNvSpPr/>
          <p:nvPr/>
        </p:nvSpPr>
        <p:spPr>
          <a:xfrm>
            <a:off x="9235440" y="248724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libri"/>
              </a:rPr>
              <a:t>1 : 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822960" y="3054240"/>
            <a:ext cx="10515240" cy="566640"/>
          </a:xfrm>
          <a:prstGeom prst="rect">
            <a:avLst/>
          </a:prstGeom>
          <a:solidFill>
            <a:srgbClr val="F2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25" name="Text 16"/>
          <p:cNvSpPr/>
          <p:nvPr/>
        </p:nvSpPr>
        <p:spPr>
          <a:xfrm>
            <a:off x="822960" y="305424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Account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26" name="Text 17"/>
          <p:cNvSpPr/>
          <p:nvPr/>
        </p:nvSpPr>
        <p:spPr>
          <a:xfrm>
            <a:off x="3566160" y="305424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Card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6309360" y="3054240"/>
            <a:ext cx="2925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account_id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28" name="Text 19"/>
          <p:cNvSpPr/>
          <p:nvPr/>
        </p:nvSpPr>
        <p:spPr>
          <a:xfrm>
            <a:off x="9235440" y="305424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libri"/>
              </a:rPr>
              <a:t>1 : 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29" name="Text 20"/>
          <p:cNvSpPr/>
          <p:nvPr/>
        </p:nvSpPr>
        <p:spPr>
          <a:xfrm>
            <a:off x="822960" y="362088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Account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30" name="Text 21"/>
          <p:cNvSpPr/>
          <p:nvPr/>
        </p:nvSpPr>
        <p:spPr>
          <a:xfrm>
            <a:off x="3566160" y="362088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Transactions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31" name="Text 22"/>
          <p:cNvSpPr/>
          <p:nvPr/>
        </p:nvSpPr>
        <p:spPr>
          <a:xfrm>
            <a:off x="6309360" y="3620880"/>
            <a:ext cx="2925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account_id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32" name="Text 23"/>
          <p:cNvSpPr/>
          <p:nvPr/>
        </p:nvSpPr>
        <p:spPr>
          <a:xfrm>
            <a:off x="9235440" y="362088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libri"/>
              </a:rPr>
              <a:t>1 : 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33" name="Shape 24"/>
          <p:cNvSpPr/>
          <p:nvPr/>
        </p:nvSpPr>
        <p:spPr>
          <a:xfrm>
            <a:off x="822960" y="4187880"/>
            <a:ext cx="10515240" cy="566640"/>
          </a:xfrm>
          <a:prstGeom prst="rect">
            <a:avLst/>
          </a:prstGeom>
          <a:solidFill>
            <a:srgbClr val="F2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34" name="Text 25"/>
          <p:cNvSpPr/>
          <p:nvPr/>
        </p:nvSpPr>
        <p:spPr>
          <a:xfrm>
            <a:off x="822960" y="418788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Customer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35" name="Text 26"/>
          <p:cNvSpPr/>
          <p:nvPr/>
        </p:nvSpPr>
        <p:spPr>
          <a:xfrm>
            <a:off x="3566160" y="418788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Loan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36" name="Text 27"/>
          <p:cNvSpPr/>
          <p:nvPr/>
        </p:nvSpPr>
        <p:spPr>
          <a:xfrm>
            <a:off x="6309360" y="4187880"/>
            <a:ext cx="2925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customer_id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37" name="Text 28"/>
          <p:cNvSpPr/>
          <p:nvPr/>
        </p:nvSpPr>
        <p:spPr>
          <a:xfrm>
            <a:off x="9235440" y="418788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libri"/>
              </a:rPr>
              <a:t>1 : 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38" name="Text 29"/>
          <p:cNvSpPr/>
          <p:nvPr/>
        </p:nvSpPr>
        <p:spPr>
          <a:xfrm>
            <a:off x="822960" y="475488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Branch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39" name="Text 30"/>
          <p:cNvSpPr/>
          <p:nvPr/>
        </p:nvSpPr>
        <p:spPr>
          <a:xfrm>
            <a:off x="3566160" y="475488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Employee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40" name="Text 31"/>
          <p:cNvSpPr/>
          <p:nvPr/>
        </p:nvSpPr>
        <p:spPr>
          <a:xfrm>
            <a:off x="6309360" y="4754880"/>
            <a:ext cx="2925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branch_id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41" name="Text 32"/>
          <p:cNvSpPr/>
          <p:nvPr/>
        </p:nvSpPr>
        <p:spPr>
          <a:xfrm>
            <a:off x="9235440" y="4754880"/>
            <a:ext cx="21027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tIns="137160" rIns="137160" bIns="1371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libri"/>
              </a:rPr>
              <a:t>1 : 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548640" y="41148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ptos Black"/>
                <a:ea typeface="Cambria"/>
              </a:rPr>
              <a:t>Implementation</a:t>
            </a:r>
            <a:endParaRPr lang="en-GB" sz="4000" b="0" u="none" strike="noStrike">
              <a:solidFill>
                <a:srgbClr val="FFFFFF"/>
              </a:solidFill>
              <a:effectLst/>
              <a:uFillTx/>
              <a:latin typeface="Aptos Black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548640" y="11430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CADCFC"/>
                </a:solidFill>
                <a:effectLst/>
                <a:uFillTx/>
                <a:latin typeface="Aptos"/>
                <a:ea typeface="Calibri"/>
              </a:rPr>
              <a:t>Built with SQL &amp; MySQL Workbench 8.0 CE</a:t>
            </a:r>
            <a:endParaRPr lang="en-GB" sz="20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44" name="Shape 2"/>
          <p:cNvSpPr/>
          <p:nvPr/>
        </p:nvSpPr>
        <p:spPr>
          <a:xfrm>
            <a:off x="640080" y="1965960"/>
            <a:ext cx="5303160" cy="685440"/>
          </a:xfrm>
          <a:prstGeom prst="roundRect">
            <a:avLst>
              <a:gd name="adj" fmla="val 10667"/>
            </a:avLst>
          </a:prstGeom>
          <a:solidFill>
            <a:srgbClr val="273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45" name="Shape 3"/>
          <p:cNvSpPr/>
          <p:nvPr/>
        </p:nvSpPr>
        <p:spPr>
          <a:xfrm>
            <a:off x="777240" y="2112120"/>
            <a:ext cx="383760" cy="38376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777240" y="2112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1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1280160" y="196596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Creating the database schema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48" name="Shape 6"/>
          <p:cNvSpPr/>
          <p:nvPr/>
        </p:nvSpPr>
        <p:spPr>
          <a:xfrm>
            <a:off x="640080" y="2834640"/>
            <a:ext cx="5303160" cy="685440"/>
          </a:xfrm>
          <a:prstGeom prst="roundRect">
            <a:avLst>
              <a:gd name="adj" fmla="val 10667"/>
            </a:avLst>
          </a:prstGeom>
          <a:solidFill>
            <a:srgbClr val="273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777240" y="2980800"/>
            <a:ext cx="383760" cy="38376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50" name="Text 8"/>
          <p:cNvSpPr/>
          <p:nvPr/>
        </p:nvSpPr>
        <p:spPr>
          <a:xfrm>
            <a:off x="777240" y="29808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2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51" name="Text 9"/>
          <p:cNvSpPr/>
          <p:nvPr/>
        </p:nvSpPr>
        <p:spPr>
          <a:xfrm>
            <a:off x="1280160" y="283464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Creating all seven tables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52" name="Shape 10"/>
          <p:cNvSpPr/>
          <p:nvPr/>
        </p:nvSpPr>
        <p:spPr>
          <a:xfrm>
            <a:off x="640080" y="3703320"/>
            <a:ext cx="5303160" cy="685440"/>
          </a:xfrm>
          <a:prstGeom prst="roundRect">
            <a:avLst>
              <a:gd name="adj" fmla="val 10667"/>
            </a:avLst>
          </a:prstGeom>
          <a:solidFill>
            <a:srgbClr val="273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53" name="Shape 11"/>
          <p:cNvSpPr/>
          <p:nvPr/>
        </p:nvSpPr>
        <p:spPr>
          <a:xfrm>
            <a:off x="777240" y="3849480"/>
            <a:ext cx="383760" cy="38376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54" name="Text 12"/>
          <p:cNvSpPr/>
          <p:nvPr/>
        </p:nvSpPr>
        <p:spPr>
          <a:xfrm>
            <a:off x="777240" y="3849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3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55" name="Text 13"/>
          <p:cNvSpPr/>
          <p:nvPr/>
        </p:nvSpPr>
        <p:spPr>
          <a:xfrm>
            <a:off x="1280160" y="370332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Defining primary keys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6309360" y="1965960"/>
            <a:ext cx="5303160" cy="685440"/>
          </a:xfrm>
          <a:prstGeom prst="roundRect">
            <a:avLst>
              <a:gd name="adj" fmla="val 10667"/>
            </a:avLst>
          </a:prstGeom>
          <a:solidFill>
            <a:srgbClr val="273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57" name="Shape 15"/>
          <p:cNvSpPr/>
          <p:nvPr/>
        </p:nvSpPr>
        <p:spPr>
          <a:xfrm>
            <a:off x="6446520" y="2112120"/>
            <a:ext cx="383760" cy="38376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58" name="Text 16"/>
          <p:cNvSpPr/>
          <p:nvPr/>
        </p:nvSpPr>
        <p:spPr>
          <a:xfrm>
            <a:off x="6446520" y="21121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4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59" name="Text 17"/>
          <p:cNvSpPr/>
          <p:nvPr/>
        </p:nvSpPr>
        <p:spPr>
          <a:xfrm>
            <a:off x="6949440" y="196596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Defining foreign key constraints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60" name="Shape 18"/>
          <p:cNvSpPr/>
          <p:nvPr/>
        </p:nvSpPr>
        <p:spPr>
          <a:xfrm>
            <a:off x="6309360" y="2834640"/>
            <a:ext cx="5303160" cy="685440"/>
          </a:xfrm>
          <a:prstGeom prst="roundRect">
            <a:avLst>
              <a:gd name="adj" fmla="val 10667"/>
            </a:avLst>
          </a:prstGeom>
          <a:solidFill>
            <a:srgbClr val="273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61" name="Shape 19"/>
          <p:cNvSpPr/>
          <p:nvPr/>
        </p:nvSpPr>
        <p:spPr>
          <a:xfrm>
            <a:off x="6446520" y="2980800"/>
            <a:ext cx="383760" cy="38376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62" name="Text 20"/>
          <p:cNvSpPr/>
          <p:nvPr/>
        </p:nvSpPr>
        <p:spPr>
          <a:xfrm>
            <a:off x="6446520" y="29808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5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63" name="Text 21"/>
          <p:cNvSpPr/>
          <p:nvPr/>
        </p:nvSpPr>
        <p:spPr>
          <a:xfrm>
            <a:off x="6949440" y="283464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Populating tables with sample data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64" name="Shape 22"/>
          <p:cNvSpPr/>
          <p:nvPr/>
        </p:nvSpPr>
        <p:spPr>
          <a:xfrm>
            <a:off x="6309360" y="3703320"/>
            <a:ext cx="5303160" cy="685440"/>
          </a:xfrm>
          <a:prstGeom prst="roundRect">
            <a:avLst>
              <a:gd name="adj" fmla="val 10667"/>
            </a:avLst>
          </a:prstGeom>
          <a:solidFill>
            <a:srgbClr val="273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65" name="Shape 23"/>
          <p:cNvSpPr/>
          <p:nvPr/>
        </p:nvSpPr>
        <p:spPr>
          <a:xfrm>
            <a:off x="6446520" y="3849480"/>
            <a:ext cx="383760" cy="383760"/>
          </a:xfrm>
          <a:prstGeom prst="ellipse">
            <a:avLst/>
          </a:prstGeom>
          <a:solidFill>
            <a:srgbClr val="D4AF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22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66" name="Text 24"/>
          <p:cNvSpPr/>
          <p:nvPr/>
        </p:nvSpPr>
        <p:spPr>
          <a:xfrm>
            <a:off x="6446520" y="3849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6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67" name="Text 25"/>
          <p:cNvSpPr/>
          <p:nvPr/>
        </p:nvSpPr>
        <p:spPr>
          <a:xfrm>
            <a:off x="6949440" y="3703320"/>
            <a:ext cx="4525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Executing SQL queries on the database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"/>
          <p:cNvPicPr/>
          <p:nvPr/>
        </p:nvPicPr>
        <p:blipFill>
          <a:blip r:embed="rId1"/>
          <a:stretch/>
        </p:blipFill>
        <p:spPr>
          <a:xfrm>
            <a:off x="394200" y="480240"/>
            <a:ext cx="4903200" cy="131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" name=""/>
          <p:cNvPicPr/>
          <p:nvPr/>
        </p:nvPicPr>
        <p:blipFill>
          <a:blip r:embed="rId2"/>
          <a:stretch/>
        </p:blipFill>
        <p:spPr>
          <a:xfrm>
            <a:off x="360000" y="2700000"/>
            <a:ext cx="4959000" cy="330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" name=""/>
          <p:cNvPicPr/>
          <p:nvPr/>
        </p:nvPicPr>
        <p:blipFill>
          <a:blip r:embed="rId3"/>
          <a:stretch/>
        </p:blipFill>
        <p:spPr>
          <a:xfrm>
            <a:off x="5760000" y="1080000"/>
            <a:ext cx="6233040" cy="454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/>
          <p:cNvPicPr/>
          <p:nvPr/>
        </p:nvPicPr>
        <p:blipFill>
          <a:blip r:embed="rId1"/>
          <a:stretch/>
        </p:blipFill>
        <p:spPr>
          <a:xfrm>
            <a:off x="360000" y="398880"/>
            <a:ext cx="5600520" cy="374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"/>
          <p:cNvPicPr/>
          <p:nvPr/>
        </p:nvPicPr>
        <p:blipFill>
          <a:blip r:embed="rId2"/>
          <a:stretch/>
        </p:blipFill>
        <p:spPr>
          <a:xfrm>
            <a:off x="5974560" y="398880"/>
            <a:ext cx="5905440" cy="1767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36"/>
          <p:cNvSpPr/>
          <p:nvPr/>
        </p:nvSpPr>
        <p:spPr>
          <a:xfrm>
            <a:off x="548640" y="41148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ptos Black"/>
                <a:ea typeface="Cambria"/>
              </a:rPr>
              <a:t>Validating Solution</a:t>
            </a:r>
            <a:endParaRPr lang="en-GB" sz="4000" b="0" u="none" strike="noStrike">
              <a:solidFill>
                <a:srgbClr val="FFFFFF"/>
              </a:solidFill>
              <a:effectLst/>
              <a:uFillTx/>
              <a:latin typeface="Aptos Black"/>
            </a:endParaRPr>
          </a:p>
        </p:txBody>
      </p:sp>
      <p:sp>
        <p:nvSpPr>
          <p:cNvPr id="174" name="Text 38"/>
          <p:cNvSpPr/>
          <p:nvPr/>
        </p:nvSpPr>
        <p:spPr>
          <a:xfrm>
            <a:off x="548640" y="11430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FF8000"/>
                </a:solidFill>
                <a:effectLst/>
                <a:uFillTx/>
                <a:latin typeface="Aptos SemiBold"/>
                <a:ea typeface="Calibri"/>
              </a:rPr>
              <a:t>Using mock data and test queries</a:t>
            </a:r>
            <a:endParaRPr lang="en-GB" sz="2000" b="0" u="none" strike="noStrike">
              <a:solidFill>
                <a:srgbClr val="FF8000"/>
              </a:solidFill>
              <a:effectLst/>
              <a:uFillTx/>
              <a:latin typeface="Aptos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/>
          <p:cNvPicPr/>
          <p:nvPr/>
        </p:nvPicPr>
        <p:blipFill>
          <a:blip r:embed="rId1"/>
          <a:stretch/>
        </p:blipFill>
        <p:spPr>
          <a:xfrm>
            <a:off x="360000" y="446040"/>
            <a:ext cx="5415120" cy="261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"/>
          <p:cNvPicPr/>
          <p:nvPr/>
        </p:nvPicPr>
        <p:blipFill>
          <a:blip r:embed="rId2"/>
          <a:stretch/>
        </p:blipFill>
        <p:spPr>
          <a:xfrm>
            <a:off x="360000" y="3240000"/>
            <a:ext cx="7911360" cy="32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42"/>
          <p:cNvSpPr/>
          <p:nvPr/>
        </p:nvSpPr>
        <p:spPr>
          <a:xfrm>
            <a:off x="6120000" y="534600"/>
            <a:ext cx="590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FF8000"/>
                </a:solidFill>
                <a:effectLst/>
                <a:uFillTx/>
                <a:latin typeface="Aptos ExtraBold"/>
                <a:ea typeface="Calibri"/>
              </a:rPr>
              <a:t>Example of sample data populated into the Database</a:t>
            </a:r>
            <a:endParaRPr lang="en-GB" sz="2200" b="0" u="none" strike="noStrike">
              <a:solidFill>
                <a:srgbClr val="FF8000"/>
              </a:solidFill>
              <a:effectLst/>
              <a:uFillTx/>
              <a:latin typeface="Aptos Extra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"/>
          <p:cNvPicPr/>
          <p:nvPr/>
        </p:nvPicPr>
        <p:blipFill>
          <a:blip r:embed="rId1"/>
          <a:stretch/>
        </p:blipFill>
        <p:spPr>
          <a:xfrm>
            <a:off x="360000" y="378000"/>
            <a:ext cx="7200000" cy="312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43"/>
          <p:cNvSpPr/>
          <p:nvPr/>
        </p:nvSpPr>
        <p:spPr>
          <a:xfrm>
            <a:off x="8280000" y="534600"/>
            <a:ext cx="3743640" cy="90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i="1" u="none" strike="noStrike">
                <a:solidFill>
                  <a:srgbClr val="FF8000"/>
                </a:solidFill>
                <a:effectLst/>
                <a:uFillTx/>
                <a:latin typeface="Aptos ExtraBold"/>
                <a:ea typeface="Calibri"/>
              </a:rPr>
              <a:t>Example of  query  used to validate the Database solution</a:t>
            </a:r>
            <a:endParaRPr lang="en-GB" sz="2200" b="0" u="none" strike="noStrike">
              <a:solidFill>
                <a:srgbClr val="FF8000"/>
              </a:solidFill>
              <a:effectLst/>
              <a:uFillTx/>
              <a:latin typeface="Aptos ExtraBold"/>
            </a:endParaRPr>
          </a:p>
        </p:txBody>
      </p:sp>
      <p:pic>
        <p:nvPicPr>
          <p:cNvPr id="180" name=""/>
          <p:cNvPicPr/>
          <p:nvPr/>
        </p:nvPicPr>
        <p:blipFill>
          <a:blip r:embed="rId2"/>
          <a:stretch/>
        </p:blipFill>
        <p:spPr>
          <a:xfrm>
            <a:off x="360000" y="3656160"/>
            <a:ext cx="5570280" cy="2643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548640" y="41148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Aptos Black"/>
                <a:ea typeface="Cambria"/>
              </a:rPr>
              <a:t>Result Discussion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ptos Black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548640" y="1188720"/>
            <a:ext cx="11063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B1B2F"/>
                </a:solidFill>
                <a:effectLst/>
                <a:uFillTx/>
                <a:latin typeface="Aptos"/>
                <a:ea typeface="Calibri"/>
              </a:rPr>
              <a:t>The banking database successfully stores customer information, accounts, loans, transactions, employees, and cards while enforcing relationships through foreign keys.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379440" y="2377440"/>
            <a:ext cx="2102760" cy="237708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1156680" y="2697480"/>
            <a:ext cx="548280" cy="548280"/>
          </a:xfrm>
          <a:prstGeom prst="ellipse">
            <a:avLst/>
          </a:prstGeom>
          <a:solidFill>
            <a:srgbClr val="FF8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1156680" y="2697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1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516600" y="3429000"/>
            <a:ext cx="1828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Reduced redundancy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87" name="Shape 6"/>
          <p:cNvSpPr/>
          <p:nvPr/>
        </p:nvSpPr>
        <p:spPr>
          <a:xfrm>
            <a:off x="2711160" y="2377440"/>
            <a:ext cx="2102760" cy="2377080"/>
          </a:xfrm>
          <a:prstGeom prst="roundRect">
            <a:avLst>
              <a:gd name="adj" fmla="val 4348"/>
            </a:avLst>
          </a:prstGeom>
          <a:solidFill>
            <a:srgbClr val="273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3488400" y="2697480"/>
            <a:ext cx="548280" cy="548280"/>
          </a:xfrm>
          <a:prstGeom prst="ellipse">
            <a:avLst/>
          </a:prstGeom>
          <a:solidFill>
            <a:srgbClr val="FF8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3488400" y="2697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2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2848320" y="3429000"/>
            <a:ext cx="1828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Fast data retrieval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91" name="Shape 10"/>
          <p:cNvSpPr/>
          <p:nvPr/>
        </p:nvSpPr>
        <p:spPr>
          <a:xfrm>
            <a:off x="5042880" y="2377440"/>
            <a:ext cx="2102760" cy="237708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92" name="Shape 11"/>
          <p:cNvSpPr/>
          <p:nvPr/>
        </p:nvSpPr>
        <p:spPr>
          <a:xfrm>
            <a:off x="5820120" y="2697480"/>
            <a:ext cx="548280" cy="548280"/>
          </a:xfrm>
          <a:prstGeom prst="ellipse">
            <a:avLst/>
          </a:prstGeom>
          <a:solidFill>
            <a:srgbClr val="FF8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93" name="Text 12"/>
          <p:cNvSpPr/>
          <p:nvPr/>
        </p:nvSpPr>
        <p:spPr>
          <a:xfrm>
            <a:off x="5820120" y="2697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3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94" name="Text 13"/>
          <p:cNvSpPr/>
          <p:nvPr/>
        </p:nvSpPr>
        <p:spPr>
          <a:xfrm>
            <a:off x="5180040" y="3429000"/>
            <a:ext cx="1828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Improved data integrity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95" name="Shape 14"/>
          <p:cNvSpPr/>
          <p:nvPr/>
        </p:nvSpPr>
        <p:spPr>
          <a:xfrm>
            <a:off x="7374600" y="2377440"/>
            <a:ext cx="2102760" cy="2377080"/>
          </a:xfrm>
          <a:prstGeom prst="roundRect">
            <a:avLst>
              <a:gd name="adj" fmla="val 4348"/>
            </a:avLst>
          </a:prstGeom>
          <a:solidFill>
            <a:srgbClr val="273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196" name="Shape 15"/>
          <p:cNvSpPr/>
          <p:nvPr/>
        </p:nvSpPr>
        <p:spPr>
          <a:xfrm>
            <a:off x="8151840" y="2697480"/>
            <a:ext cx="548280" cy="548280"/>
          </a:xfrm>
          <a:prstGeom prst="ellipse">
            <a:avLst/>
          </a:prstGeom>
          <a:solidFill>
            <a:srgbClr val="FF8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97" name="Text 16"/>
          <p:cNvSpPr/>
          <p:nvPr/>
        </p:nvSpPr>
        <p:spPr>
          <a:xfrm>
            <a:off x="8151840" y="2697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4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98" name="Text 17"/>
          <p:cNvSpPr/>
          <p:nvPr/>
        </p:nvSpPr>
        <p:spPr>
          <a:xfrm>
            <a:off x="7511760" y="3429000"/>
            <a:ext cx="1828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Easy reporting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199" name="Shape 18"/>
          <p:cNvSpPr/>
          <p:nvPr/>
        </p:nvSpPr>
        <p:spPr>
          <a:xfrm>
            <a:off x="9706320" y="2377440"/>
            <a:ext cx="2102760" cy="237708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0" name="Shape 19"/>
          <p:cNvSpPr/>
          <p:nvPr/>
        </p:nvSpPr>
        <p:spPr>
          <a:xfrm>
            <a:off x="10483560" y="2697480"/>
            <a:ext cx="548280" cy="548280"/>
          </a:xfrm>
          <a:prstGeom prst="ellipse">
            <a:avLst/>
          </a:prstGeom>
          <a:solidFill>
            <a:srgbClr val="FF8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01" name="Text 20"/>
          <p:cNvSpPr/>
          <p:nvPr/>
        </p:nvSpPr>
        <p:spPr>
          <a:xfrm>
            <a:off x="10483560" y="2697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761"/>
                </a:solidFill>
                <a:effectLst/>
                <a:uFillTx/>
                <a:latin typeface="Aptos"/>
                <a:ea typeface="Cambria"/>
              </a:rPr>
              <a:t>5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02" name="Text 21"/>
          <p:cNvSpPr/>
          <p:nvPr/>
        </p:nvSpPr>
        <p:spPr>
          <a:xfrm>
            <a:off x="9843480" y="3429000"/>
            <a:ext cx="1828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Secure storage of banking information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8568360" y="-1260000"/>
            <a:ext cx="4571640" cy="4571640"/>
          </a:xfrm>
          <a:prstGeom prst="ellipse">
            <a:avLst/>
          </a:prstGeom>
          <a:solidFill>
            <a:srgbClr val="FF8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ptos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548640" y="411480"/>
            <a:ext cx="1109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ptos Black"/>
                <a:ea typeface="Cambria"/>
              </a:rPr>
              <a:t>Conclusion</a:t>
            </a:r>
            <a:endParaRPr lang="en-GB" sz="4000" b="0" u="none" strike="noStrike">
              <a:solidFill>
                <a:srgbClr val="FFFFFF"/>
              </a:solidFill>
              <a:effectLst/>
              <a:uFillTx/>
              <a:latin typeface="Aptos Black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640080" y="1463040"/>
            <a:ext cx="7497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ptos"/>
                <a:ea typeface="Calibri"/>
              </a:rPr>
              <a:t>The Banking Database Management System effectively demonstrates the application of relational database concepts in solving real-world banking problems.</a:t>
            </a:r>
            <a:endParaRPr lang="en-GB" sz="21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640080" y="2651760"/>
            <a:ext cx="7497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CADCFC"/>
                </a:solidFill>
                <a:effectLst/>
                <a:uFillTx/>
                <a:latin typeface="Aptos"/>
                <a:ea typeface="Calibri"/>
              </a:rPr>
              <a:t>MySQL provides a reliable platform for storing and managing banking data while ensuring consistency and integrity.</a:t>
            </a:r>
            <a:endParaRPr lang="en-GB" sz="21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640080" y="3977640"/>
            <a:ext cx="7497720" cy="1371240"/>
          </a:xfrm>
          <a:prstGeom prst="roundRect">
            <a:avLst>
              <a:gd name="adj" fmla="val 5333"/>
            </a:avLst>
          </a:prstGeom>
          <a:solidFill>
            <a:srgbClr val="2736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914400" y="416052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8000"/>
                </a:solidFill>
                <a:effectLst/>
                <a:uFillTx/>
                <a:latin typeface="Aptos"/>
                <a:ea typeface="Calibri"/>
              </a:rPr>
              <a:t>Source Code</a:t>
            </a:r>
            <a:endParaRPr lang="en-GB" sz="1600" b="0" u="none" strike="noStrike">
              <a:solidFill>
                <a:srgbClr val="FF8000"/>
              </a:solidFill>
              <a:effectLst/>
              <a:uFillTx/>
              <a:latin typeface="Aptos"/>
            </a:endParaRPr>
          </a:p>
        </p:txBody>
      </p:sp>
      <p:sp>
        <p:nvSpPr>
          <p:cNvPr id="209" name="Text 6"/>
          <p:cNvSpPr/>
          <p:nvPr/>
        </p:nvSpPr>
        <p:spPr>
          <a:xfrm>
            <a:off x="914400" y="4480560"/>
            <a:ext cx="6857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Aptos Mono"/>
                <a:ea typeface="Courier New"/>
              </a:rPr>
              <a:t>github.com/retzonel/bank-database-sql</a:t>
            </a:r>
            <a:endParaRPr lang="en-GB" sz="2100" b="0" u="none" strike="noStrike">
              <a:solidFill>
                <a:srgbClr val="FFFFFF"/>
              </a:solidFill>
              <a:effectLst/>
              <a:uFillTx/>
              <a:latin typeface="Aptos Mono"/>
            </a:endParaRPr>
          </a:p>
        </p:txBody>
      </p:sp>
      <p:pic>
        <p:nvPicPr>
          <p:cNvPr id="210" name=""/>
          <p:cNvPicPr/>
          <p:nvPr/>
        </p:nvPicPr>
        <p:blipFill>
          <a:blip r:embed="rId1"/>
          <a:stretch/>
        </p:blipFill>
        <p:spPr>
          <a:xfrm>
            <a:off x="9659880" y="540000"/>
            <a:ext cx="1980000" cy="19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LibreOffice/26.2.4.2$Windows_X86_64 LibreOffice_project/0229ac93fcf0d7cbc6376066c6f35021cef002dc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2026-07-19T14:44:05Z</dcterms:created>
  <dc:creator>PptxGenJS</dc:creator>
  <dc:description/>
  <dc:language>en-GB</dc:language>
  <cp:lastModifiedBy/>
  <dcterms:modified xsi:type="dcterms:W3CDTF">2026-07-19T17:01:50Z</dcterms:modified>
  <cp:revision>10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